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7604607" y="640080"/>
            <a:ext cx="3474720" cy="54864"/>
          </a:xfrm>
          <a:prstGeom prst="rect">
            <a:avLst/>
          </a:prstGeom>
          <a:solidFill>
            <a:srgbClr val="50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74742" y="937260"/>
            <a:ext cx="3474720" cy="54864"/>
          </a:xfrm>
          <a:prstGeom prst="rect">
            <a:avLst/>
          </a:prstGeom>
          <a:solidFill>
            <a:srgbClr val="50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616990" y="1199165"/>
            <a:ext cx="3474720" cy="54864"/>
          </a:xfrm>
          <a:prstGeom prst="rect">
            <a:avLst/>
          </a:prstGeom>
          <a:solidFill>
            <a:srgbClr val="50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69494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Smart Procurement &amp;</a:t>
            </a:r>
          </a:p>
          <a:p>
            <a:pPr>
              <a:defRPr sz="3400" b="1">
                <a:solidFill>
                  <a:srgbClr val="FFFFFF"/>
                </a:solidFill>
              </a:defRPr>
            </a:pPr>
            <a:r>
              <a:t>Purchase Order Management System</a:t>
            </a:r>
          </a:p>
          <a:p>
            <a:pPr>
              <a:spcBef>
                <a:spcPts val="1800"/>
              </a:spcBef>
              <a:defRPr sz="2000">
                <a:solidFill>
                  <a:srgbClr val="BED2E8"/>
                </a:solidFill>
              </a:defRPr>
            </a:pPr>
            <a:r>
              <a:t>Project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5303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CDDCEE"/>
                </a:solidFill>
              </a:defRPr>
            </a:pPr>
            <a:r>
              <a:t>Infosys Internship Project</a:t>
            </a:r>
          </a:p>
          <a:p>
            <a:pPr>
              <a:defRPr sz="1300">
                <a:solidFill>
                  <a:srgbClr val="AAC3DC"/>
                </a:solidFill>
              </a:defRPr>
            </a:pPr>
            <a:r>
              <a:t>Professional Procurement • Supplier • Order • Payment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1.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73736"/>
            <a:ext cx="3246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CEE"/>
                </a:solidFill>
              </a:defRPr>
            </a:pPr>
            <a:r>
              <a:t>Smart Procurement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3474720" cy="2140974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73152" cy="2011680"/>
          </a:xfrm>
          <a:prstGeom prst="rect">
            <a:avLst/>
          </a:prstGeom>
          <a:solidFill>
            <a:srgbClr val="2B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B4A"/>
                </a:solidFill>
              </a:defRPr>
            </a:pPr>
            <a:r>
              <a:t>Business 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01368"/>
            <a:ext cx="30632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rPr dirty="0"/>
              <a:t>Centralize procurement operations in one platform.</a:t>
            </a:r>
          </a:p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rPr dirty="0"/>
              <a:t>Reduce manual coordination between administrators and suppliers.</a:t>
            </a:r>
          </a:p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rPr dirty="0"/>
              <a:t>Improve visibility of purchase orders, deliveries and payments.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43000"/>
            <a:ext cx="3474720" cy="2140974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143000"/>
            <a:ext cx="73152" cy="2011680"/>
          </a:xfrm>
          <a:prstGeom prst="rect">
            <a:avLst/>
          </a:prstGeom>
          <a:solidFill>
            <a:srgbClr val="1E8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30759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B4A"/>
                </a:solidFill>
              </a:defRPr>
            </a:pPr>
            <a:r>
              <a:t>Core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01368"/>
            <a:ext cx="30632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Create a role-based system for managing products, suppliers and purchase orders.</a:t>
            </a:r>
          </a:p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Track the complete order lifecycle from creation to delivery.</a:t>
            </a:r>
          </a:p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Provide payment and performance visibility.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143000"/>
            <a:ext cx="3489960" cy="2140974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143000"/>
            <a:ext cx="73152" cy="2011680"/>
          </a:xfrm>
          <a:prstGeom prst="rect">
            <a:avLst/>
          </a:prstGeom>
          <a:solidFill>
            <a:srgbClr val="E08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30759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B4A"/>
                </a:solidFill>
              </a:defRPr>
            </a:pPr>
            <a:r>
              <a:t>Key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801368"/>
            <a:ext cx="30632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Admin: manages products, suppliers and procurement activities.</a:t>
            </a:r>
          </a:p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Supplier: views assigned orders, payments and rating.</a:t>
            </a:r>
          </a:p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System: maintains status, payment and reporting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End-to-end digital procurement workflow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Role-specific dashboards and actions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Payment history with summaries and monthly trend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Supplier rating and performance visibility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2. Major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73736"/>
            <a:ext cx="3246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CEE"/>
                </a:solidFill>
              </a:defRPr>
            </a:pPr>
            <a:r>
              <a:t>Functional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73152" cy="1965960"/>
          </a:xfrm>
          <a:prstGeom prst="rect">
            <a:avLst/>
          </a:prstGeom>
          <a:solidFill>
            <a:srgbClr val="2B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2618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B4A"/>
                </a:solidFill>
              </a:defRPr>
            </a:pPr>
            <a:r>
              <a:t>Product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Add and maintain products</a:t>
            </a:r>
          </a:p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Product availability and details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09728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097280"/>
            <a:ext cx="73152" cy="1965960"/>
          </a:xfrm>
          <a:prstGeom prst="rect">
            <a:avLst/>
          </a:prstGeom>
          <a:solidFill>
            <a:srgbClr val="1E8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2618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B4A"/>
                </a:solidFill>
              </a:defRPr>
            </a:pPr>
            <a:r>
              <a:t>Supplier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75564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Supplier onboarding and profiles</a:t>
            </a:r>
          </a:p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Supplier dashboard and rating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09728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097280"/>
            <a:ext cx="73152" cy="1965960"/>
          </a:xfrm>
          <a:prstGeom prst="rect">
            <a:avLst/>
          </a:prstGeom>
          <a:solidFill>
            <a:srgbClr val="E08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12618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B4A"/>
                </a:solidFill>
              </a:defRPr>
            </a:pPr>
            <a:r>
              <a:t>Purchase 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175564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Create and assign POs</a:t>
            </a:r>
          </a:p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Track order lifecycle and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2900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429000"/>
            <a:ext cx="73152" cy="1965960"/>
          </a:xfrm>
          <a:prstGeom prst="rect">
            <a:avLst/>
          </a:prstGeom>
          <a:solidFill>
            <a:srgbClr val="3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5935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B4A"/>
                </a:solidFill>
              </a:defRPr>
            </a:pPr>
            <a:r>
              <a:t>Payment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08736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Record successful/pending payments</a:t>
            </a:r>
          </a:p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Payment history, exports and trend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2900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34840" y="3429000"/>
            <a:ext cx="73152" cy="1965960"/>
          </a:xfrm>
          <a:prstGeom prst="rect">
            <a:avLst/>
          </a:prstGeom>
          <a:solidFill>
            <a:srgbClr val="2B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5935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B4A"/>
                </a:solidFill>
              </a:defRPr>
            </a:pPr>
            <a:r>
              <a:t>Dashboards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08736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KPIs for orders and payments</a:t>
            </a:r>
          </a:p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Recent orders and status overview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42900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600" y="3429000"/>
            <a:ext cx="73152" cy="1965960"/>
          </a:xfrm>
          <a:prstGeom prst="rect">
            <a:avLst/>
          </a:prstGeom>
          <a:solidFill>
            <a:srgbClr val="1E8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58200" y="35935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B4A"/>
                </a:solidFill>
              </a:defRPr>
            </a:pPr>
            <a:r>
              <a:t>Role-based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08736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Admin and supplier experiences</a:t>
            </a:r>
          </a:p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Restricted actions based on role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3.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73736"/>
            <a:ext cx="3246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CEE"/>
                </a:solidFill>
              </a:defRPr>
            </a:pPr>
            <a:r>
              <a:t>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24128"/>
            <a:ext cx="2194560" cy="548640"/>
          </a:xfrm>
          <a:prstGeom prst="roundRect">
            <a:avLst/>
          </a:prstGeom>
          <a:solidFill>
            <a:srgbClr val="E8F0FA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12471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B4A"/>
                </a:solidFill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078992"/>
            <a:ext cx="2560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B5BA0"/>
                </a:solidFill>
              </a:defRPr>
            </a:pPr>
            <a:r>
              <a:t>Angular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875"/>
                </a:solidFill>
              </a:defRPr>
            </a:pPr>
            <a:r>
              <a:t>Responsive web UI, routing, forms, dashboards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37360"/>
            <a:ext cx="2194560" cy="548640"/>
          </a:xfrm>
          <a:prstGeom prst="roundRect">
            <a:avLst/>
          </a:prstGeom>
          <a:solidFill>
            <a:srgbClr val="E8F0FA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83794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B4A"/>
                </a:solidFill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792224"/>
            <a:ext cx="2560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B5BA0"/>
                </a:solidFill>
              </a:defRPr>
            </a:pPr>
            <a:r>
              <a:t>Spring Boot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810512"/>
            <a:ext cx="5669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875"/>
                </a:solidFill>
              </a:defRPr>
            </a:pPr>
            <a:r>
              <a:t>REST APIs, business logic and service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450592"/>
            <a:ext cx="2194560" cy="548640"/>
          </a:xfrm>
          <a:prstGeom prst="roundRect">
            <a:avLst/>
          </a:prstGeom>
          <a:solidFill>
            <a:srgbClr val="E8F0FA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551176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B4A"/>
                </a:solidFill>
              </a:defRPr>
            </a:pPr>
            <a: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505456"/>
            <a:ext cx="2560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B5BA0"/>
                </a:solidFill>
              </a:defRPr>
            </a:pPr>
            <a:r>
              <a:t>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523744"/>
            <a:ext cx="5669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875"/>
                </a:solidFill>
              </a:defRPr>
            </a:pPr>
            <a:r>
              <a:t>Persistent storage for users, products, suppliers, POs and payments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163824"/>
            <a:ext cx="2194560" cy="548640"/>
          </a:xfrm>
          <a:prstGeom prst="roundRect">
            <a:avLst/>
          </a:prstGeom>
          <a:solidFill>
            <a:srgbClr val="E8F0FA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26440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B4A"/>
                </a:solidFill>
              </a:defRPr>
            </a:pPr>
            <a:r>
              <a:t>API /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218688"/>
            <a:ext cx="2560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B5BA0"/>
                </a:solidFill>
              </a:defRPr>
            </a:pPr>
            <a:r>
              <a:t>REST 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3236976"/>
            <a:ext cx="5669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875"/>
                </a:solidFill>
              </a:defRPr>
            </a:pPr>
            <a:r>
              <a:t>Communication between frontend and backend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877056"/>
            <a:ext cx="2194560" cy="548640"/>
          </a:xfrm>
          <a:prstGeom prst="roundRect">
            <a:avLst/>
          </a:prstGeom>
          <a:solidFill>
            <a:srgbClr val="E8F0FA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3977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B4A"/>
                </a:solidFill>
              </a:defRPr>
            </a:pPr>
            <a:r>
              <a:t>Charts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3931920"/>
            <a:ext cx="2560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B5BA0"/>
                </a:solidFill>
              </a:defRPr>
            </a:pPr>
            <a:r>
              <a:t>Chart.js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3950208"/>
            <a:ext cx="5669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875"/>
                </a:solidFill>
              </a:defRPr>
            </a:pPr>
            <a:r>
              <a:t>Monthly payment and dashboard visualizations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590288"/>
            <a:ext cx="2194560" cy="548640"/>
          </a:xfrm>
          <a:prstGeom prst="roundRect">
            <a:avLst/>
          </a:prstGeom>
          <a:solidFill>
            <a:srgbClr val="E8F0FA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69087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B4A"/>
                </a:solidFill>
              </a:defRPr>
            </a:pPr>
            <a:r>
              <a:t>UI Components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4645152"/>
            <a:ext cx="2560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B5BA0"/>
                </a:solidFill>
              </a:defRPr>
            </a:pPr>
            <a:r>
              <a:t>Angular Material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4663440"/>
            <a:ext cx="5669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875"/>
                </a:solidFill>
              </a:defRPr>
            </a:pPr>
            <a:r>
              <a:t>Buttons, icons, snackbars and enterprise UI components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303520"/>
            <a:ext cx="2194560" cy="548640"/>
          </a:xfrm>
          <a:prstGeom prst="roundRect">
            <a:avLst/>
          </a:prstGeom>
          <a:solidFill>
            <a:srgbClr val="E8F0FA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540410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B4A"/>
                </a:solidFill>
              </a:defRPr>
            </a:pPr>
            <a:r>
              <a:t>Build / Runtime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5358383"/>
            <a:ext cx="2560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B5BA0"/>
                </a:solidFill>
              </a:defRPr>
            </a:pPr>
            <a:r>
              <a:t>Node.js + Maven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5376672"/>
            <a:ext cx="5669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875"/>
                </a:solidFill>
              </a:defRPr>
            </a:pPr>
            <a:r>
              <a:t>Angular tooling and Spring Boot dependency/build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4.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73736"/>
            <a:ext cx="3246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CEE"/>
                </a:solidFill>
              </a:defRPr>
            </a:pPr>
            <a:r>
              <a:t>High-Level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1828800" cy="914400"/>
          </a:xfrm>
          <a:prstGeom prst="roundRect">
            <a:avLst/>
          </a:prstGeom>
          <a:solidFill>
            <a:srgbClr val="E8F0FA"/>
          </a:solidFill>
          <a:ln>
            <a:solidFill>
              <a:srgbClr val="2B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4A"/>
                </a:solidFill>
              </a:defRPr>
            </a:pPr>
            <a:r>
              <a:t>Angular</a:t>
            </a:r>
            <a:br/>
            <a:r>
              <a:t>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828800"/>
            <a:ext cx="1965960" cy="914400"/>
          </a:xfrm>
          <a:prstGeom prst="roundRect">
            <a:avLst/>
          </a:prstGeom>
          <a:solidFill>
            <a:srgbClr val="EDF6F3"/>
          </a:solidFill>
          <a:ln>
            <a:solidFill>
              <a:srgbClr val="2B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08B5B"/>
                </a:solidFill>
              </a:defRPr>
            </a:pPr>
            <a:r>
              <a:t>Spring Boot</a:t>
            </a:r>
            <a:br/>
            <a:r>
              <a:t>REST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828800"/>
            <a:ext cx="1965960" cy="914400"/>
          </a:xfrm>
          <a:prstGeom prst="roundRect">
            <a:avLst/>
          </a:prstGeom>
          <a:solidFill>
            <a:srgbClr val="FAF4EB"/>
          </a:solidFill>
          <a:ln>
            <a:solidFill>
              <a:srgbClr val="2B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08230"/>
                </a:solidFill>
              </a:defRPr>
            </a:pPr>
            <a:r>
              <a:t>Service / Business</a:t>
            </a:r>
            <a:br/>
            <a:r>
              <a:t>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828800"/>
            <a:ext cx="1965960" cy="914400"/>
          </a:xfrm>
          <a:prstGeom prst="roundRect">
            <a:avLst/>
          </a:prstGeom>
          <a:solidFill>
            <a:srgbClr val="F1EFF9"/>
          </a:solidFill>
          <a:ln>
            <a:solidFill>
              <a:srgbClr val="2B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8087"/>
                </a:solidFill>
              </a:defRPr>
            </a:pPr>
            <a:r>
              <a:t>MySQL</a:t>
            </a:r>
            <a:br/>
            <a:r>
              <a:t>Database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23160" y="2286000"/>
            <a:ext cx="548640" cy="0"/>
          </a:xfrm>
          <a:prstGeom prst="line">
            <a:avLst/>
          </a:prstGeom>
          <a:ln w="254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2286000"/>
            <a:ext cx="640080" cy="0"/>
          </a:xfrm>
          <a:prstGeom prst="line">
            <a:avLst/>
          </a:prstGeom>
          <a:ln w="254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543800" y="2286000"/>
            <a:ext cx="640079" cy="0"/>
          </a:xfrm>
          <a:prstGeom prst="line">
            <a:avLst/>
          </a:prstGeom>
          <a:ln w="254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74720" y="3886200"/>
            <a:ext cx="1828800" cy="777240"/>
          </a:xfrm>
          <a:prstGeom prst="roundRect">
            <a:avLst/>
          </a:prstGeom>
          <a:solidFill>
            <a:srgbClr val="F4F0F9"/>
          </a:solidFill>
          <a:ln>
            <a:solidFill>
              <a:srgbClr val="2B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B5BA0"/>
                </a:solidFill>
              </a:defRPr>
            </a:pPr>
            <a:r>
              <a:t>Authentication /</a:t>
            </a:r>
            <a:br/>
            <a:r>
              <a:t>Role Control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886200"/>
            <a:ext cx="1828800" cy="777240"/>
          </a:xfrm>
          <a:prstGeom prst="roundRect">
            <a:avLst/>
          </a:prstGeom>
          <a:solidFill>
            <a:srgbClr val="F4F8F2"/>
          </a:solidFill>
          <a:ln>
            <a:solidFill>
              <a:srgbClr val="2B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08B5B"/>
                </a:solidFill>
              </a:defRPr>
            </a:pPr>
            <a:r>
              <a:t>Payment &amp;</a:t>
            </a:r>
            <a:br/>
            <a:r>
              <a:t>Reporting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43400" y="2743200"/>
            <a:ext cx="0" cy="1143000"/>
          </a:xfrm>
          <a:prstGeom prst="line">
            <a:avLst/>
          </a:prstGeom>
          <a:ln w="254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03720" y="2743200"/>
            <a:ext cx="0" cy="1143000"/>
          </a:xfrm>
          <a:prstGeom prst="line">
            <a:avLst/>
          </a:prstGeom>
          <a:ln w="254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498348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A32"/>
                </a:solidFill>
              </a:defRPr>
            </a:pPr>
            <a:r>
              <a:t>Frontend sends HTTP requests to REST endpoints.</a:t>
            </a:r>
          </a:p>
          <a:p>
            <a:pPr>
              <a:spcAft>
                <a:spcPts val="1000"/>
              </a:spcAft>
              <a:defRPr sz="1500">
                <a:solidFill>
                  <a:srgbClr val="232A32"/>
                </a:solidFill>
              </a:defRPr>
            </a:pPr>
            <a:r>
              <a:t>Backend validates requests, applies business rules and persists data.</a:t>
            </a:r>
          </a:p>
          <a:p>
            <a:pPr>
              <a:spcAft>
                <a:spcPts val="1000"/>
              </a:spcAft>
              <a:defRPr sz="1500">
                <a:solidFill>
                  <a:srgbClr val="232A32"/>
                </a:solidFill>
              </a:defRPr>
            </a:pPr>
            <a:r>
              <a:t>Role-specific views expose only relevant procurement actions.</a:t>
            </a:r>
          </a:p>
          <a:p>
            <a:pPr>
              <a:spcAft>
                <a:spcPts val="1000"/>
              </a:spcAft>
              <a:defRPr sz="1500">
                <a:solidFill>
                  <a:srgbClr val="232A32"/>
                </a:solidFill>
              </a:defRPr>
            </a:pPr>
            <a:r>
              <a:t>Dashboards aggregate operational data for quick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5. End-to-End Procurement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73736"/>
            <a:ext cx="3246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CEE"/>
                </a:solidFill>
              </a:defRPr>
            </a:pPr>
            <a: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1481328" cy="914400"/>
          </a:xfrm>
          <a:prstGeom prst="roundRect">
            <a:avLst/>
          </a:prstGeom>
          <a:solidFill>
            <a:srgbClr val="E8F0FA"/>
          </a:solidFill>
          <a:ln>
            <a:solidFill>
              <a:srgbClr val="2B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4A"/>
                </a:solidFill>
              </a:defRPr>
            </a:pPr>
            <a:r>
              <a:t>1. Login</a:t>
            </a:r>
            <a:br/>
            <a:r>
              <a:t>User authentication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84248" y="2423160"/>
            <a:ext cx="201168" cy="0"/>
          </a:xfrm>
          <a:prstGeom prst="line">
            <a:avLst/>
          </a:prstGeom>
          <a:ln w="254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30552" y="1965960"/>
            <a:ext cx="1481328" cy="914400"/>
          </a:xfrm>
          <a:prstGeom prst="roundRect">
            <a:avLst/>
          </a:prstGeom>
          <a:solidFill>
            <a:srgbClr val="E8F0FA"/>
          </a:solidFill>
          <a:ln>
            <a:solidFill>
              <a:srgbClr val="2B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4A"/>
                </a:solidFill>
              </a:defRPr>
            </a:pPr>
            <a:r>
              <a:t>2. Product</a:t>
            </a:r>
            <a:br/>
            <a:r>
              <a:t>Select / manage product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" y="2423160"/>
            <a:ext cx="201168" cy="0"/>
          </a:xfrm>
          <a:prstGeom prst="line">
            <a:avLst/>
          </a:prstGeom>
          <a:ln w="254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58184" y="1965960"/>
            <a:ext cx="1481328" cy="914400"/>
          </a:xfrm>
          <a:prstGeom prst="roundRect">
            <a:avLst/>
          </a:prstGeom>
          <a:solidFill>
            <a:srgbClr val="E8F0FA"/>
          </a:solidFill>
          <a:ln>
            <a:solidFill>
              <a:srgbClr val="2B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4A"/>
                </a:solidFill>
              </a:defRPr>
            </a:pPr>
            <a:r>
              <a:t>3. Supplier</a:t>
            </a:r>
            <a:br/>
            <a:r>
              <a:t>Supplier assigned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39512" y="2423160"/>
            <a:ext cx="201168" cy="0"/>
          </a:xfrm>
          <a:prstGeom prst="line">
            <a:avLst/>
          </a:prstGeom>
          <a:ln w="254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85816" y="1965960"/>
            <a:ext cx="1481328" cy="914400"/>
          </a:xfrm>
          <a:prstGeom prst="roundRect">
            <a:avLst/>
          </a:prstGeom>
          <a:solidFill>
            <a:srgbClr val="E8F0FA"/>
          </a:solidFill>
          <a:ln>
            <a:solidFill>
              <a:srgbClr val="2B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4A"/>
                </a:solidFill>
              </a:defRPr>
            </a:pPr>
            <a:r>
              <a:t>4. PO</a:t>
            </a:r>
            <a:br/>
            <a:r>
              <a:t>Purchase order created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67144" y="2423160"/>
            <a:ext cx="201168" cy="0"/>
          </a:xfrm>
          <a:prstGeom prst="line">
            <a:avLst/>
          </a:prstGeom>
          <a:ln w="254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013448" y="1965960"/>
            <a:ext cx="1481328" cy="914400"/>
          </a:xfrm>
          <a:prstGeom prst="roundRect">
            <a:avLst/>
          </a:prstGeom>
          <a:solidFill>
            <a:srgbClr val="EDF6F3"/>
          </a:solidFill>
          <a:ln>
            <a:solidFill>
              <a:srgbClr val="2B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4A"/>
                </a:solidFill>
              </a:defRPr>
            </a:pPr>
            <a:r>
              <a:t>5. Fulfilment</a:t>
            </a:r>
            <a:br/>
            <a:r>
              <a:t>Accept → Pack → Dispatch → Deliver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94776" y="2423160"/>
            <a:ext cx="201168" cy="0"/>
          </a:xfrm>
          <a:prstGeom prst="line">
            <a:avLst/>
          </a:prstGeom>
          <a:ln w="254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41080" y="1965960"/>
            <a:ext cx="1481328" cy="914400"/>
          </a:xfrm>
          <a:prstGeom prst="roundRect">
            <a:avLst/>
          </a:prstGeom>
          <a:solidFill>
            <a:srgbClr val="EDF6F3"/>
          </a:solidFill>
          <a:ln>
            <a:solidFill>
              <a:srgbClr val="2B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4A"/>
                </a:solidFill>
              </a:defRPr>
            </a:pPr>
            <a:r>
              <a:t>6. Payment</a:t>
            </a:r>
            <a:br/>
            <a:r>
              <a:t>Payment recorded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122408" y="2423160"/>
            <a:ext cx="201168" cy="0"/>
          </a:xfrm>
          <a:prstGeom prst="line">
            <a:avLst/>
          </a:prstGeom>
          <a:ln w="254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268712" y="1965960"/>
            <a:ext cx="1481328" cy="914400"/>
          </a:xfrm>
          <a:prstGeom prst="roundRect">
            <a:avLst/>
          </a:prstGeom>
          <a:solidFill>
            <a:srgbClr val="FAF4EB"/>
          </a:solidFill>
          <a:ln>
            <a:solidFill>
              <a:srgbClr val="2B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4A"/>
                </a:solidFill>
              </a:defRPr>
            </a:pPr>
            <a:r>
              <a:t>7. Dashboard</a:t>
            </a:r>
            <a:br/>
            <a:r>
              <a:t>Status &amp;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</a:defRPr>
            </a:pPr>
            <a:r>
              <a:t>The PO status changes as the supplier progresses through fulfilment.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</a:defRPr>
            </a:pPr>
            <a:r>
              <a:t>A successful payment contributes to the supplier's received-payment summary.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</a:defRPr>
            </a:pPr>
            <a:r>
              <a:t>Supplier dashboards surface order counts, payment status and rating.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Role-Based Procurement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978"/>
                </a:solidFill>
              </a:defRPr>
            </a:pPr>
            <a:r>
              <a:t>Three roles work together across the complete procurement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45920"/>
            <a:ext cx="3017520" cy="32918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2C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04088" y="1783080"/>
            <a:ext cx="2798064" cy="640080"/>
          </a:xfrm>
          <a:prstGeom prst="roundRect">
            <a:avLst/>
          </a:prstGeom>
          <a:solidFill>
            <a:srgbClr val="2C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USER / EMPLOYEE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606040"/>
            <a:ext cx="2514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23C48"/>
                </a:solidFill>
              </a:defRPr>
            </a:pPr>
            <a:r>
              <a:t>• Browse products</a:t>
            </a:r>
          </a:p>
          <a:p>
            <a:pPr>
              <a:spcAft>
                <a:spcPts val="1000"/>
              </a:spcAft>
              <a:defRPr sz="1300">
                <a:solidFill>
                  <a:srgbClr val="323C48"/>
                </a:solidFill>
              </a:defRPr>
            </a:pPr>
            <a:r>
              <a:t>• Create purchase requests</a:t>
            </a:r>
          </a:p>
          <a:p>
            <a:pPr>
              <a:spcAft>
                <a:spcPts val="1000"/>
              </a:spcAft>
              <a:defRPr sz="1300">
                <a:solidFill>
                  <a:srgbClr val="323C48"/>
                </a:solidFill>
              </a:defRPr>
            </a:pPr>
            <a:r>
              <a:t>• Track order status</a:t>
            </a:r>
          </a:p>
          <a:p>
            <a:pPr>
              <a:spcAft>
                <a:spcPts val="1000"/>
              </a:spcAft>
              <a:defRPr sz="1300">
                <a:solidFill>
                  <a:srgbClr val="323C48"/>
                </a:solidFill>
              </a:defRPr>
            </a:pPr>
            <a:r>
              <a:t>• View personal orders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645920"/>
            <a:ext cx="3017520" cy="32918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2B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178808" y="1783080"/>
            <a:ext cx="2798064" cy="640080"/>
          </a:xfrm>
          <a:prstGeom prst="roundRect">
            <a:avLst/>
          </a:prstGeom>
          <a:solidFill>
            <a:srgbClr val="2B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SUPPLIER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5112" y="2606040"/>
            <a:ext cx="2514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23C48"/>
                </a:solidFill>
              </a:defRPr>
            </a:pPr>
            <a:r>
              <a:t>• View assigned POs</a:t>
            </a:r>
          </a:p>
          <a:p>
            <a:pPr>
              <a:spcAft>
                <a:spcPts val="1000"/>
              </a:spcAft>
              <a:defRPr sz="1300">
                <a:solidFill>
                  <a:srgbClr val="323C48"/>
                </a:solidFill>
              </a:defRPr>
            </a:pPr>
            <a:r>
              <a:t>• Accept / process orders</a:t>
            </a:r>
          </a:p>
          <a:p>
            <a:pPr>
              <a:spcAft>
                <a:spcPts val="1000"/>
              </a:spcAft>
              <a:defRPr sz="1300">
                <a:solidFill>
                  <a:srgbClr val="323C48"/>
                </a:solidFill>
              </a:defRPr>
            </a:pPr>
            <a:r>
              <a:t>• Update delivery status</a:t>
            </a:r>
          </a:p>
          <a:p>
            <a:pPr>
              <a:spcAft>
                <a:spcPts val="1000"/>
              </a:spcAft>
              <a:defRPr sz="1300">
                <a:solidFill>
                  <a:srgbClr val="323C48"/>
                </a:solidFill>
              </a:defRPr>
            </a:pPr>
            <a:r>
              <a:t>• Track payments &amp; ratings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645920"/>
            <a:ext cx="3017520" cy="32918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E08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653527" y="1783080"/>
            <a:ext cx="2798064" cy="640080"/>
          </a:xfrm>
          <a:prstGeom prst="roundRect">
            <a:avLst/>
          </a:prstGeom>
          <a:solidFill>
            <a:srgbClr val="E0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9831" y="2606040"/>
            <a:ext cx="2514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23C48"/>
                </a:solidFill>
              </a:defRPr>
            </a:pPr>
            <a:r>
              <a:t>• Manage products</a:t>
            </a:r>
          </a:p>
          <a:p>
            <a:pPr>
              <a:spcAft>
                <a:spcPts val="1000"/>
              </a:spcAft>
              <a:defRPr sz="1300">
                <a:solidFill>
                  <a:srgbClr val="323C48"/>
                </a:solidFill>
              </a:defRPr>
            </a:pPr>
            <a:r>
              <a:t>• Manage users &amp; suppliers</a:t>
            </a:r>
          </a:p>
          <a:p>
            <a:pPr>
              <a:spcAft>
                <a:spcPts val="1000"/>
              </a:spcAft>
              <a:defRPr sz="1300">
                <a:solidFill>
                  <a:srgbClr val="323C48"/>
                </a:solidFill>
              </a:defRPr>
            </a:pPr>
            <a:r>
              <a:t>• Create / manage POs</a:t>
            </a:r>
          </a:p>
          <a:p>
            <a:pPr>
              <a:spcAft>
                <a:spcPts val="1000"/>
              </a:spcAft>
              <a:defRPr sz="1300">
                <a:solidFill>
                  <a:srgbClr val="323C48"/>
                </a:solidFill>
              </a:defRPr>
            </a:pPr>
            <a:r>
              <a:t>• Monitor payments &amp; ratings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11880" y="3246120"/>
            <a:ext cx="365759" cy="0"/>
          </a:xfrm>
          <a:prstGeom prst="line">
            <a:avLst/>
          </a:prstGeom>
          <a:ln w="25400">
            <a:solidFill>
              <a:srgbClr val="7887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86600" y="3246120"/>
            <a:ext cx="365760" cy="0"/>
          </a:xfrm>
          <a:prstGeom prst="line">
            <a:avLst/>
          </a:prstGeom>
          <a:ln w="25400">
            <a:solidFill>
              <a:srgbClr val="7887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52578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D4B"/>
                </a:solidFill>
              </a:defRPr>
            </a:pPr>
            <a:r>
              <a:t>Employee Request  →  Admin / PO Processing  →  Supplier Fulfilment  →  Delivery  →  Payment &amp; Rating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7. Purchase Order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73736"/>
            <a:ext cx="3246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CEE"/>
                </a:solidFill>
              </a:defRPr>
            </a:pPr>
            <a:r>
              <a:t>Order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600200" cy="960120"/>
          </a:xfrm>
          <a:prstGeom prst="roundRect">
            <a:avLst/>
          </a:prstGeom>
          <a:solidFill>
            <a:srgbClr val="E8F0FA"/>
          </a:solidFill>
          <a:ln>
            <a:solidFill>
              <a:srgbClr val="2B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4A"/>
                </a:solidFill>
              </a:defRPr>
            </a:pPr>
            <a:r>
              <a:t>CREATED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03120" y="2304288"/>
            <a:ext cx="338328" cy="0"/>
          </a:xfrm>
          <a:prstGeom prst="line">
            <a:avLst/>
          </a:prstGeom>
          <a:ln w="254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41448" y="1828800"/>
            <a:ext cx="1600200" cy="960120"/>
          </a:xfrm>
          <a:prstGeom prst="roundRect">
            <a:avLst/>
          </a:prstGeom>
          <a:solidFill>
            <a:srgbClr val="EFF6F4"/>
          </a:solidFill>
          <a:ln>
            <a:solidFill>
              <a:srgbClr val="2B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4A"/>
                </a:solidFill>
              </a:defRPr>
            </a:pPr>
            <a:r>
              <a:t>ACCEPTED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41648" y="2304288"/>
            <a:ext cx="338328" cy="0"/>
          </a:xfrm>
          <a:prstGeom prst="line">
            <a:avLst/>
          </a:prstGeom>
          <a:ln w="254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79976" y="1828800"/>
            <a:ext cx="1600200" cy="960120"/>
          </a:xfrm>
          <a:prstGeom prst="roundRect">
            <a:avLst/>
          </a:prstGeom>
          <a:solidFill>
            <a:srgbClr val="F9F4EB"/>
          </a:solidFill>
          <a:ln>
            <a:solidFill>
              <a:srgbClr val="2B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4A"/>
                </a:solidFill>
              </a:defRPr>
            </a:pPr>
            <a:r>
              <a:t>PACKED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80176" y="2304288"/>
            <a:ext cx="338328" cy="0"/>
          </a:xfrm>
          <a:prstGeom prst="line">
            <a:avLst/>
          </a:prstGeom>
          <a:ln w="254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18504" y="1828800"/>
            <a:ext cx="1600200" cy="960120"/>
          </a:xfrm>
          <a:prstGeom prst="roundRect">
            <a:avLst/>
          </a:prstGeom>
          <a:solidFill>
            <a:srgbClr val="F1EFF9"/>
          </a:solidFill>
          <a:ln>
            <a:solidFill>
              <a:srgbClr val="2B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4A"/>
                </a:solidFill>
              </a:defRPr>
            </a:pPr>
            <a:r>
              <a:t>DISPATCHED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18704" y="2304288"/>
            <a:ext cx="338328" cy="0"/>
          </a:xfrm>
          <a:prstGeom prst="line">
            <a:avLst/>
          </a:prstGeom>
          <a:ln w="254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57032" y="1828800"/>
            <a:ext cx="1600200" cy="960120"/>
          </a:xfrm>
          <a:prstGeom prst="roundRect">
            <a:avLst/>
          </a:prstGeom>
          <a:solidFill>
            <a:srgbClr val="F6F1F7"/>
          </a:solidFill>
          <a:ln>
            <a:solidFill>
              <a:srgbClr val="2B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4A"/>
                </a:solidFill>
              </a:defRPr>
            </a:pPr>
            <a:r>
              <a:t>OUT FOR DELIVERY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857232" y="2304288"/>
            <a:ext cx="338328" cy="0"/>
          </a:xfrm>
          <a:prstGeom prst="line">
            <a:avLst/>
          </a:prstGeom>
          <a:ln w="254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195560" y="1828800"/>
            <a:ext cx="1600200" cy="960120"/>
          </a:xfrm>
          <a:prstGeom prst="roundRect">
            <a:avLst/>
          </a:prstGeom>
          <a:solidFill>
            <a:srgbClr val="EDF6F3"/>
          </a:solidFill>
          <a:ln>
            <a:solidFill>
              <a:srgbClr val="2B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4A"/>
                </a:solidFill>
              </a:defRPr>
            </a:pPr>
            <a:r>
              <a:t>DELIVERED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703320"/>
            <a:ext cx="31546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" y="3703320"/>
            <a:ext cx="73152" cy="1554480"/>
          </a:xfrm>
          <a:prstGeom prst="rect">
            <a:avLst/>
          </a:prstGeom>
          <a:solidFill>
            <a:srgbClr val="2B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3867911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B4A"/>
                </a:solidFill>
              </a:defRPr>
            </a:pPr>
            <a:r>
              <a:t>Supplier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361688"/>
            <a:ext cx="27432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Assigned PO appears in the supplier dashboard with product, quantity, amount and current status.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703320"/>
            <a:ext cx="31546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26280" y="3703320"/>
            <a:ext cx="73152" cy="1554480"/>
          </a:xfrm>
          <a:prstGeom prst="rect">
            <a:avLst/>
          </a:prstGeom>
          <a:solidFill>
            <a:srgbClr val="1E8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0" y="3867911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B4A"/>
                </a:solidFill>
              </a:defRPr>
            </a:pPr>
            <a:r>
              <a:t>Operational Visibility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361688"/>
            <a:ext cx="27432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Counts are calculated by status so users can quickly identify pending and delivered orders.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03320"/>
            <a:ext cx="31546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38160" y="3703320"/>
            <a:ext cx="73152" cy="1554480"/>
          </a:xfrm>
          <a:prstGeom prst="rect">
            <a:avLst/>
          </a:prstGeom>
          <a:solidFill>
            <a:srgbClr val="3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66760" y="3867911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B4A"/>
                </a:solidFill>
              </a:defRPr>
            </a:pPr>
            <a:r>
              <a:t>Completion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361688"/>
            <a:ext cx="27432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Delivered orders provide the completed procurement context for payment and reporting.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8. Payment Management &amp;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73736"/>
            <a:ext cx="3246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CEE"/>
                </a:solidFill>
              </a:defRPr>
            </a:pPr>
            <a:r>
              <a:t>Financial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73152" cy="1828800"/>
          </a:xfrm>
          <a:prstGeom prst="rect">
            <a:avLst/>
          </a:prstGeom>
          <a:solidFill>
            <a:srgbClr val="2B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2618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B4A"/>
                </a:solidFill>
              </a:defRPr>
            </a:pPr>
            <a:r>
              <a:t>Payment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Payment ID and purchase order</a:t>
            </a:r>
          </a:p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Amount, date and method</a:t>
            </a:r>
          </a:p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Transaction ID and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972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097280"/>
            <a:ext cx="73152" cy="1828800"/>
          </a:xfrm>
          <a:prstGeom prst="rect">
            <a:avLst/>
          </a:prstGeom>
          <a:solidFill>
            <a:srgbClr val="3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2618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B4A"/>
                </a:solidFill>
              </a:defRPr>
            </a:pPr>
            <a:r>
              <a:t>Supplier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75564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Total payment received</a:t>
            </a:r>
          </a:p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Completed vs pending payments</a:t>
            </a:r>
          </a:p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Average successful payment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972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097280"/>
            <a:ext cx="73152" cy="1828800"/>
          </a:xfrm>
          <a:prstGeom prst="rect">
            <a:avLst/>
          </a:prstGeom>
          <a:solidFill>
            <a:srgbClr val="E08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2618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B4A"/>
                </a:solidFill>
              </a:defRPr>
            </a:pPr>
            <a:r>
              <a:t>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75564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Monthly successful-payment trend</a:t>
            </a:r>
          </a:p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Search and status filtering</a:t>
            </a:r>
          </a:p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Excel / PDF export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870" y="3565963"/>
            <a:ext cx="227132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b="1" dirty="0"/>
              <a:t>Payment Transactions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234175E-1B13-FCE7-A976-A22DD6CFE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913632"/>
            <a:ext cx="11370025" cy="26443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273741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/>
              <a:t>9. </a:t>
            </a:r>
            <a:r>
              <a:rPr lang="en-US" dirty="0"/>
              <a:t>User</a:t>
            </a:r>
            <a:r>
              <a:rPr dirty="0"/>
              <a:t>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73736"/>
            <a:ext cx="3246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CEE"/>
                </a:solidFill>
              </a:defRPr>
            </a:pPr>
            <a:r>
              <a:t>UI Preview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108356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143000"/>
            <a:ext cx="10835640" cy="43891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60" y="1289304"/>
            <a:ext cx="82296" cy="82296"/>
          </a:xfrm>
          <a:prstGeom prst="ellipse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7552" y="1289304"/>
            <a:ext cx="82296" cy="82296"/>
          </a:xfrm>
          <a:prstGeom prst="ellipse">
            <a:avLst/>
          </a:prstGeom>
          <a:solidFill>
            <a:srgbClr val="E08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2144" y="1289304"/>
            <a:ext cx="82296" cy="82296"/>
          </a:xfrm>
          <a:prstGeom prst="ellipse">
            <a:avLst/>
          </a:prstGeom>
          <a:solidFill>
            <a:srgbClr val="3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17320" y="1225296"/>
            <a:ext cx="180107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lang="en-US" dirty="0"/>
              <a:t>User</a:t>
            </a:r>
            <a:r>
              <a:rPr dirty="0"/>
              <a:t> Portal —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" y="5902918"/>
            <a:ext cx="10149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32A32"/>
                </a:solidFill>
              </a:defRPr>
            </a:pPr>
            <a:r>
              <a:rPr dirty="0"/>
              <a:t>Dashboard highlights orders, pending/delivered counts, received payments, rating and recent purchase orders.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5EFCA96-7FDE-25CD-FE2B-D992AC3C5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10729"/>
            <a:ext cx="10850880" cy="40728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AB7F0-1AF9-52F5-20B3-A6544A1C6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381318-3445-88FC-BF60-2205BE26824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DFD93D-8EC1-BAF4-A16D-C4750E65D0AF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5D0F14-1EF1-F31C-B2F7-5D2DFEBB8A38}"/>
              </a:ext>
            </a:extLst>
          </p:cNvPr>
          <p:cNvSpPr txBox="1"/>
          <p:nvPr/>
        </p:nvSpPr>
        <p:spPr>
          <a:xfrm>
            <a:off x="502920" y="146304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9. Supplier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BC6247-6E80-E421-AA34-69114C1BA7C7}"/>
              </a:ext>
            </a:extLst>
          </p:cNvPr>
          <p:cNvSpPr txBox="1"/>
          <p:nvPr/>
        </p:nvSpPr>
        <p:spPr>
          <a:xfrm>
            <a:off x="8412480" y="173736"/>
            <a:ext cx="3246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CEE"/>
                </a:solidFill>
              </a:defRPr>
            </a:pPr>
            <a:r>
              <a:t>UI Preview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AA9D1F9-2D02-0B05-619B-F6C27B38DFBF}"/>
              </a:ext>
            </a:extLst>
          </p:cNvPr>
          <p:cNvSpPr/>
          <p:nvPr/>
        </p:nvSpPr>
        <p:spPr>
          <a:xfrm>
            <a:off x="685800" y="1143000"/>
            <a:ext cx="108356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F609D7-57DF-E0D1-D34E-4D153A27555F}"/>
              </a:ext>
            </a:extLst>
          </p:cNvPr>
          <p:cNvSpPr/>
          <p:nvPr/>
        </p:nvSpPr>
        <p:spPr>
          <a:xfrm>
            <a:off x="685800" y="1143000"/>
            <a:ext cx="10835640" cy="43891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1CFC76F-3DA1-97DD-0DA0-411855A5A010}"/>
              </a:ext>
            </a:extLst>
          </p:cNvPr>
          <p:cNvSpPr/>
          <p:nvPr/>
        </p:nvSpPr>
        <p:spPr>
          <a:xfrm>
            <a:off x="822960" y="1289304"/>
            <a:ext cx="82296" cy="82296"/>
          </a:xfrm>
          <a:prstGeom prst="ellipse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9B8D13-A0A5-F064-32D5-B0D539A22B4A}"/>
              </a:ext>
            </a:extLst>
          </p:cNvPr>
          <p:cNvSpPr/>
          <p:nvPr/>
        </p:nvSpPr>
        <p:spPr>
          <a:xfrm>
            <a:off x="987552" y="1289304"/>
            <a:ext cx="82296" cy="82296"/>
          </a:xfrm>
          <a:prstGeom prst="ellipse">
            <a:avLst/>
          </a:prstGeom>
          <a:solidFill>
            <a:srgbClr val="E08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1B3DB1C-B628-1269-FEE9-C5753A0FDBFB}"/>
              </a:ext>
            </a:extLst>
          </p:cNvPr>
          <p:cNvSpPr/>
          <p:nvPr/>
        </p:nvSpPr>
        <p:spPr>
          <a:xfrm>
            <a:off x="1152144" y="1289304"/>
            <a:ext cx="82296" cy="82296"/>
          </a:xfrm>
          <a:prstGeom prst="ellipse">
            <a:avLst/>
          </a:prstGeom>
          <a:solidFill>
            <a:srgbClr val="3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E9AC6A-FB27-C1CD-6CA8-98429216474B}"/>
              </a:ext>
            </a:extLst>
          </p:cNvPr>
          <p:cNvSpPr txBox="1"/>
          <p:nvPr/>
        </p:nvSpPr>
        <p:spPr>
          <a:xfrm>
            <a:off x="1417320" y="1225296"/>
            <a:ext cx="9921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Supplier Portal — Dashboard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C0A01E-826F-2B71-6AA5-69A263AFE5F0}"/>
              </a:ext>
            </a:extLst>
          </p:cNvPr>
          <p:cNvSpPr txBox="1"/>
          <p:nvPr/>
        </p:nvSpPr>
        <p:spPr>
          <a:xfrm>
            <a:off x="914400" y="5971252"/>
            <a:ext cx="10149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32A32"/>
                </a:solidFill>
              </a:defRPr>
            </a:pPr>
            <a:r>
              <a:rPr dirty="0"/>
              <a:t>Dashboard highlights orders, pending/delivered counts, received payments, rating and recent purchase orders.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7AEEB61-76D1-0D7A-3F75-63B9C5286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1581912"/>
            <a:ext cx="10850880" cy="425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857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11.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73736"/>
            <a:ext cx="3246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CEE"/>
                </a:solidFill>
              </a:defRPr>
            </a:pPr>
            <a:r>
              <a:t>Core Entities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143000"/>
            <a:ext cx="73152" cy="1828800"/>
          </a:xfrm>
          <a:prstGeom prst="rect">
            <a:avLst/>
          </a:prstGeom>
          <a:solidFill>
            <a:srgbClr val="2B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3075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B4A"/>
                </a:solidFill>
              </a:defRPr>
            </a:pPr>
            <a:r>
              <a:t>User /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0136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userId, name, email, role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1430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1143000"/>
            <a:ext cx="73152" cy="1828800"/>
          </a:xfrm>
          <a:prstGeom prst="rect">
            <a:avLst/>
          </a:prstGeom>
          <a:solidFill>
            <a:srgbClr val="1E8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13075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B4A"/>
                </a:solidFill>
              </a:defRPr>
            </a:pPr>
            <a:r>
              <a:t>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80136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productId, name, price, stock/details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1430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5320" y="1143000"/>
            <a:ext cx="73152" cy="1828800"/>
          </a:xfrm>
          <a:prstGeom prst="rect">
            <a:avLst/>
          </a:prstGeom>
          <a:solidFill>
            <a:srgbClr val="E08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13075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B4A"/>
                </a:solidFill>
              </a:defRPr>
            </a:pPr>
            <a:r>
              <a:t>Supplier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80136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supplierId, name, contact/details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832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383280"/>
            <a:ext cx="73152" cy="1828800"/>
          </a:xfrm>
          <a:prstGeom prst="rect">
            <a:avLst/>
          </a:prstGeom>
          <a:solidFill>
            <a:srgbClr val="3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5478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B4A"/>
                </a:solidFill>
              </a:defRPr>
            </a:pPr>
            <a:r>
              <a:t>Purchase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4164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purchaseOrderId, supplier, product, quantity, totalAmount, status, orderDate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3832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3383280"/>
            <a:ext cx="73152" cy="1828800"/>
          </a:xfrm>
          <a:prstGeom prst="rect">
            <a:avLst/>
          </a:prstGeom>
          <a:solidFill>
            <a:srgbClr val="2B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09160" y="35478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B4A"/>
                </a:solidFill>
              </a:defRPr>
            </a:pPr>
            <a:r>
              <a:t>Payment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04164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paymentId, purchaseOrder, amount, paymentDate, method, transactionId, status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3832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75320" y="3383280"/>
            <a:ext cx="73152" cy="1828800"/>
          </a:xfrm>
          <a:prstGeom prst="rect">
            <a:avLst/>
          </a:prstGeom>
          <a:solidFill>
            <a:srgbClr val="1E8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20" y="35478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B4A"/>
                </a:solidFill>
              </a:defRPr>
            </a:pPr>
            <a:r>
              <a:t>Rating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04164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supplier rating, review count / feedback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114800" y="2057400"/>
            <a:ext cx="320040" cy="0"/>
          </a:xfrm>
          <a:prstGeom prst="line">
            <a:avLst/>
          </a:prstGeom>
          <a:ln w="254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909560" y="2057400"/>
            <a:ext cx="320040" cy="0"/>
          </a:xfrm>
          <a:prstGeom prst="line">
            <a:avLst/>
          </a:prstGeom>
          <a:ln w="254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114800" y="4297680"/>
            <a:ext cx="320040" cy="0"/>
          </a:xfrm>
          <a:prstGeom prst="line">
            <a:avLst/>
          </a:prstGeom>
          <a:ln w="254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909560" y="4297680"/>
            <a:ext cx="320040" cy="0"/>
          </a:xfrm>
          <a:prstGeom prst="line">
            <a:avLst/>
          </a:prstGeom>
          <a:ln w="254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12. Benefits &amp; 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73736"/>
            <a:ext cx="3246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CEE"/>
                </a:solidFill>
              </a:defRPr>
            </a:pPr>
            <a:r>
              <a:t>Outcome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5212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143000"/>
            <a:ext cx="73152" cy="4526280"/>
          </a:xfrm>
          <a:prstGeom prst="rect">
            <a:avLst/>
          </a:prstGeom>
          <a:solidFill>
            <a:srgbClr val="2B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30759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B4A"/>
                </a:solidFill>
              </a:defRPr>
            </a:pPr>
            <a:r>
              <a:t>Project 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01368"/>
            <a:ext cx="480060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Centralized procurement information</a:t>
            </a:r>
          </a:p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Clear purchase-order lifecycle tracking</a:t>
            </a:r>
          </a:p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Role-based supplier and admin experiences</a:t>
            </a:r>
          </a:p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Payment transparency and searchable history</a:t>
            </a:r>
          </a:p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Dashboard-driven operational visibility</a:t>
            </a:r>
          </a:p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Structured data storage and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43000"/>
            <a:ext cx="5212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143000"/>
            <a:ext cx="73152" cy="4526280"/>
          </a:xfrm>
          <a:prstGeom prst="rect">
            <a:avLst/>
          </a:prstGeom>
          <a:solidFill>
            <a:srgbClr val="1E8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30759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B4A"/>
                </a:solidFill>
              </a:defRPr>
            </a:pPr>
            <a:r>
              <a:t>Possible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01368"/>
            <a:ext cx="480060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Email / notification alerts for PO status changes</a:t>
            </a:r>
          </a:p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Advanced procurement analytics and filters</a:t>
            </a:r>
          </a:p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Invoice and document management</a:t>
            </a:r>
          </a:p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Approval workflows and audit logs</a:t>
            </a:r>
          </a:p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Cloud deployment and production monitoring</a:t>
            </a:r>
          </a:p>
          <a:p>
            <a:pPr>
              <a:spcAft>
                <a:spcPts val="700"/>
              </a:spcAft>
              <a:defRPr sz="1300">
                <a:solidFill>
                  <a:srgbClr val="5C6875"/>
                </a:solidFill>
              </a:defRPr>
            </a:pPr>
            <a:r>
              <a:t>More granular permissions and access policies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BED2E8"/>
                </a:solidFill>
              </a:defRPr>
            </a:pPr>
            <a:r>
              <a:t>Smart Procurement &amp; Purchase Order Management System</a:t>
            </a:r>
          </a:p>
          <a:p>
            <a:pPr algn="ctr">
              <a:defRPr sz="1500">
                <a:solidFill>
                  <a:srgbClr val="A5C3E1"/>
                </a:solidFill>
              </a:defRPr>
            </a:pPr>
            <a:r>
              <a:t>Infosys Internship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861</Words>
  <Application>Microsoft Office PowerPoint</Application>
  <PresentationFormat>Widescreen</PresentationFormat>
  <Paragraphs>178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vishal yelane</cp:lastModifiedBy>
  <cp:revision>7</cp:revision>
  <dcterms:created xsi:type="dcterms:W3CDTF">2013-01-27T09:14:16Z</dcterms:created>
  <dcterms:modified xsi:type="dcterms:W3CDTF">2026-09-16T15:01:10Z</dcterms:modified>
  <cp:category/>
</cp:coreProperties>
</file>